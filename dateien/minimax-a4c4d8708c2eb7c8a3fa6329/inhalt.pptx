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muenster/holzfassade-reparatur-oder-austausch/" TargetMode="External"/><Relationship Id="rId3" Type="http://schemas.openxmlformats.org/officeDocument/2006/relationships/hyperlink" Target="https://holzundhaus.github.io/1aholzbaumuenster/dateien/minimax-a4c4d8708c2eb7c8a3fa632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Reparatur, Teilerneuerung oder Austausch – wie Sie vor der Anfrage einordnen · Erklärende Präsentation</a:t>
            </a:r>
          </a:p>
        </p:txBody>
      </p:sp>
      <p:sp>
        <p:nvSpPr>
          <p:cNvPr id="3" name="Content Placeholder 2"/>
          <p:cNvSpPr>
            <a:spLocks noGrp="1"/>
          </p:cNvSpPr>
          <p:nvPr>
            <p:ph idx="1"/>
          </p:nvPr>
        </p:nvSpPr>
        <p:spPr/>
        <p:txBody>
          <a:bodyPr/>
          <a:lstStyle/>
          <a:p>
            <a:r>
              <a:t>Überblick: Bevor eine Holzfassade saniert wird, hilft eine sorgfältige Vorbereitung dabei, sichtbare Schäden, mögliche Ursachen und offene Fragen klar voneinander zu trennen. Der Beitrag „Holzfassade: Reparatur, Teilerneuerung oder Austausch – wie Sie vor der Anfrage einordnen“ bietet dafür eine practicale Grundlage. Er beschreibt, welche Beobachtungen Sie selbst erfassen können, ohne Bauteile zu öffnen oder bereits Eingriffe vorzunehmen. So wird aus einem allgemeinen Sanierungswunsch eine nachvollziehbare erste Anfrage.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Fassade als zusammenhängendes System betrachten</a:t>
            </a:r>
          </a:p>
        </p:txBody>
      </p:sp>
      <p:sp>
        <p:nvSpPr>
          <p:cNvPr id="3" name="Content Placeholder 2"/>
          <p:cNvSpPr>
            <a:spLocks noGrp="1"/>
          </p:cNvSpPr>
          <p:nvPr>
            <p:ph idx="1"/>
          </p:nvPr>
        </p:nvSpPr>
        <p:spPr/>
        <p:txBody>
          <a:bodyPr/>
          <a:lstStyle/>
          <a:p>
            <a:pPr>
              <a:defRPr sz="1800"/>
            </a:pPr>
            <a:r>
              <a:t>Schäden an einer Holzfassade selten gleichmäßig. Häufig fallen einzelne Bretter, Anschlüsse oder begrenzte Bereiche mit beschädigter Beschichtung auf, während andere Flächen intakt wirken. Entscheidend ist deshalb nicht nur die Zahl der sichtbaren Stellen, sondern auch deren Lage. Sockel, Wetterseite, Dachanschluss und Fensterlaibungen können unterschiedliche Beanspruchungen erfahren. Auch der vorhandene Aufbau, erkennbare Befestigungen und die Anordnung der Profile gehören zum Gesamtbild. Eine gute Bestandsaufnahme beschreibt daher nicht nur den auffälligsten Schaden, sondern zeigt, wie die Fassade insgesamt aufgebaut 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Beobachtungen erfassen, ohne selbst zu reparieren</a:t>
            </a:r>
          </a:p>
        </p:txBody>
      </p:sp>
      <p:sp>
        <p:nvSpPr>
          <p:cNvPr id="3" name="Content Placeholder 2"/>
          <p:cNvSpPr>
            <a:spLocks noGrp="1"/>
          </p:cNvSpPr>
          <p:nvPr>
            <p:ph idx="1"/>
          </p:nvPr>
        </p:nvSpPr>
        <p:spPr/>
        <p:txBody>
          <a:bodyPr/>
          <a:lstStyle/>
          <a:p>
            <a:pPr>
              <a:defRPr sz="1800"/>
            </a:pPr>
            <a:r>
              <a:t>Bis zur fachlichen Prüfung sollten Sie keine Bretter lösen, Anschlüsse öffnen oder beschädigte Teile entfernen. Das schützt den Bestand und verhindert, dass unbekannte Materialien oder Unterkonstruktionen unbeabsichtigt beschädigt werden. Von außen zugängliche Informationen lassen sich trotzdem dokumentieren: Form und Profil der Bekleidung, Oberflächenbeschaffenheit, Sockelbereich, Öffnungen, Dachanschlüsse und sichtbare Befestigungselemente. Ergänzen können Sie Hinweise darauf, wo Feuchtigkeit auftreten oder wo Wasser von oben, aus Anschlüssen oder im Sockelbereich eindringen könnte. Solche Beobachtungen sind keine Diagnose, sondern eine geo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Beobachtungen erfassen, ohne selbst zu reparieren</a:t>
            </a:r>
          </a:p>
        </p:txBody>
      </p:sp>
      <p:sp>
        <p:nvSpPr>
          <p:cNvPr id="3" name="Content Placeholder 2"/>
          <p:cNvSpPr>
            <a:spLocks noGrp="1"/>
          </p:cNvSpPr>
          <p:nvPr>
            <p:ph idx="1"/>
          </p:nvPr>
        </p:nvSpPr>
        <p:spPr/>
        <p:txBody>
          <a:bodyPr/>
          <a:lstStyle/>
          <a:p>
            <a:pPr>
              <a:defRPr sz="1800"/>
            </a:pPr>
            <a:r>
              <a:t>rdnete Beschreibung des Zustands.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Schadensbilder und Verlauf unterscheiden</a:t>
            </a:r>
          </a:p>
        </p:txBody>
      </p:sp>
      <p:sp>
        <p:nvSpPr>
          <p:cNvPr id="3" name="Content Placeholder 2"/>
          <p:cNvSpPr>
            <a:spLocks noGrp="1"/>
          </p:cNvSpPr>
          <p:nvPr>
            <p:ph idx="1"/>
          </p:nvPr>
        </p:nvSpPr>
        <p:spPr/>
        <p:txBody>
          <a:bodyPr/>
          <a:lstStyle/>
          <a:p>
            <a:pPr>
              <a:defRPr sz="1800"/>
            </a:pPr>
            <a:r>
              <a:t>Für die Einordnung sind konkrete Bilder und Begriffe hilfreich. Darkle Flecken, Risse, abblätternde Beschichtungen, sichtbares Harz und Verfärbungen sollten entsprechend benannt und lokalisiert werden. Notieren Sie außerdem, ob die Schäden erst kürzlich aufgetreten sind oder bereits länger bestehen. Bekannte Reparaturen, frühere Beschichtungen, das Baujahr oder eine letzte Sanierung können wichtige Hinweise liefern. Fotos der gesamten Fassade zeigen den Zusammenhang, während Detailaufnahmen einzelne Schadensstellen dokumentieren. Beschreiben Sie außerdem, welche Bereiche gemeinsam betroffen sind. Ein abgrenzbarer Einzelfall lässt sich anders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Schadensbilder und Verlauf unterscheiden</a:t>
            </a:r>
          </a:p>
        </p:txBody>
      </p:sp>
      <p:sp>
        <p:nvSpPr>
          <p:cNvPr id="3" name="Content Placeholder 2"/>
          <p:cNvSpPr>
            <a:spLocks noGrp="1"/>
          </p:cNvSpPr>
          <p:nvPr>
            <p:ph idx="1"/>
          </p:nvPr>
        </p:nvSpPr>
        <p:spPr/>
        <p:txBody>
          <a:bodyPr/>
          <a:lstStyle/>
          <a:p>
            <a:pPr>
              <a:defRPr sz="1800"/>
            </a:pPr>
            <a:r>
              <a:t>beurteilen als mehrere zusammenhängende Abschnitte oder Schäden an mehreren Bauteilen.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 Teilerneuerung oder Austausch vorbereiten</a:t>
            </a:r>
          </a:p>
        </p:txBody>
      </p:sp>
      <p:sp>
        <p:nvSpPr>
          <p:cNvPr id="3" name="Content Placeholder 2"/>
          <p:cNvSpPr>
            <a:spLocks noGrp="1"/>
          </p:cNvSpPr>
          <p:nvPr>
            <p:ph idx="1"/>
          </p:nvPr>
        </p:nvSpPr>
        <p:spPr/>
        <p:txBody>
          <a:bodyPr/>
          <a:lstStyle/>
          <a:p>
            <a:pPr>
              <a:defRPr sz="1800"/>
            </a:pPr>
            <a:r>
              <a:t>Die in dem Beitrag genannten Maßnahmen greifen unterschiedliche Voraussetzungen auf. Eine Reparatur ist eher ein Thema, wenn nur einzelne Bauteile betroffen sind und der übrige Bestand standsicher und nachvollziehbar bleibt. Eine Teilerneuerung kommt in Betracht, wenn zusammenhängende Bereiche, einzelne Gefache, ein Sockelabschnitt oder eine stark beanspruchte Seite geschädigt sind und frühere Eingriffe den Aufbau uneinheitlich wirken lassen. Ein vollständiger Austausch ist eher zu prüfen, wenn Aufbau oder Befestigung in der Tiefe betroffen sind, mehrere Bauteile versagt haben oder Feuchteprobleme über längere Zeit bestanden. Diese Einordnung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Reparatur, Teilerneuerung oder Austausch vorbereiten</a:t>
            </a:r>
          </a:p>
        </p:txBody>
      </p:sp>
      <p:sp>
        <p:nvSpPr>
          <p:cNvPr id="3" name="Content Placeholder 2"/>
          <p:cNvSpPr>
            <a:spLocks noGrp="1"/>
          </p:cNvSpPr>
          <p:nvPr>
            <p:ph idx="1"/>
          </p:nvPr>
        </p:nvSpPr>
        <p:spPr/>
        <p:txBody>
          <a:bodyPr/>
          <a:lstStyle/>
          <a:p>
            <a:pPr>
              <a:defRPr sz="1800"/>
            </a:pPr>
            <a:r>
              <a:t> ersetzt keine Prüfung vor Ort, schafft aber eine belastbare Grundlage für das weitere Vorgehen.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als Entscheidungsgrundlage formulieren</a:t>
            </a:r>
          </a:p>
        </p:txBody>
      </p:sp>
      <p:sp>
        <p:nvSpPr>
          <p:cNvPr id="3" name="Content Placeholder 2"/>
          <p:cNvSpPr>
            <a:spLocks noGrp="1"/>
          </p:cNvSpPr>
          <p:nvPr>
            <p:ph idx="1"/>
          </p:nvPr>
        </p:nvSpPr>
        <p:spPr/>
        <p:txBody>
          <a:bodyPr/>
          <a:lstStyle/>
          <a:p>
            <a:pPr>
              <a:defRPr sz="1800"/>
            </a:pPr>
            <a:r>
              <a:t>In einer ersten Anfrage sollten Beobachtungen und Vermutungen getrennt bleiben. Sinnvoll sind Fotos des Gesamtbestands und der Schadensstellen, Angaben zu sichtbaren Schäden, bekannten Reparaturen und Beschichtungen sowie das gewünschte Ziel der Sanierung. Ergänzen Sie vorhandene Pläne, Unterlagen oder Hinweise auf möglichen Denkmalschutz. Benennen Sie außerdem ausdrücklich offene Punkte, zu denen Sie Orientierung benötigen. Das kann die Frage sein, ob Anschlüsse, Vorarbeiten und Nebenarbeiten berücksichtigt werden müssen. Der passender Beitrag: holzundhaus kann anschließend als Einstieg in die weitere Einordnung rund um Holzfassade und Fachw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als Entscheidungsgrundlage formulieren</a:t>
            </a:r>
          </a:p>
        </p:txBody>
      </p:sp>
      <p:sp>
        <p:nvSpPr>
          <p:cNvPr id="3" name="Content Placeholder 2"/>
          <p:cNvSpPr>
            <a:spLocks noGrp="1"/>
          </p:cNvSpPr>
          <p:nvPr>
            <p:ph idx="1"/>
          </p:nvPr>
        </p:nvSpPr>
        <p:spPr/>
        <p:txBody>
          <a:bodyPr/>
          <a:lstStyle/>
          <a:p>
            <a:pPr>
              <a:defRPr sz="1800"/>
            </a:pPr>
            <a:r>
              <a:t>erk dienen. Entscheidend bleibt, den gewünschten Zustand zu beschreiben, ohne den vorhandenen Aufbau vorab zu verändern oder eine Maßnahme bereits festzulegen.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Reparatur, Teilerneuerung oder Austausch – wie Sie vor der Anfrage einordnen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