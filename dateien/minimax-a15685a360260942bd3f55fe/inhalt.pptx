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muenster/denkmal-fassade-vorbereitung-reihenfolge/" TargetMode="External"/><Relationship Id="rId3" Type="http://schemas.openxmlformats.org/officeDocument/2006/relationships/hyperlink" Target="https://holzundhaus.github.io/1aholzbaumuenster/dateien/minimax-a15685a360260942bd3f55f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 Holzfassade-Wunsch am Denkmal in vier Schritten vorbereiten · Erklärende Präsentation</a:t>
            </a:r>
          </a:p>
        </p:txBody>
      </p:sp>
      <p:sp>
        <p:nvSpPr>
          <p:cNvPr id="3" name="Content Placeholder 2"/>
          <p:cNvSpPr>
            <a:spLocks noGrp="1"/>
          </p:cNvSpPr>
          <p:nvPr>
            <p:ph idx="1"/>
          </p:nvPr>
        </p:nvSpPr>
        <p:spPr/>
        <p:txBody>
          <a:bodyPr/>
          <a:lstStyle/>
          <a:p>
            <a:r>
              <a:t>Überblick: Die Vorbereitung einer Anfrage zur Holzfassade oder zum Dach eines möglicherweise denkmalgeschützten Gebäudes beginnt nicht mit der Auswahl eines Materials. Entscheidend ist zunächst, welcher Status vorliegt, welche Unterlagen verfügbar sind und welches Erhaltungsziel gewünscht wird. Diese Reihenfolge schafft eine belastbare Grundlage für Rückfragen und verhindert, dass frühzeitig Vorschläge entstehen, die mit den tatsächlichen Vorgaben nicht vereinbar sind.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1: Denkmalstatus verbindlich klären</a:t>
            </a:r>
          </a:p>
        </p:txBody>
      </p:sp>
      <p:sp>
        <p:nvSpPr>
          <p:cNvPr id="3" name="Content Placeholder 2"/>
          <p:cNvSpPr>
            <a:spLocks noGrp="1"/>
          </p:cNvSpPr>
          <p:nvPr>
            <p:ph idx="1"/>
          </p:nvPr>
        </p:nvSpPr>
        <p:spPr/>
        <p:txBody>
          <a:bodyPr/>
          <a:lstStyle/>
          <a:p>
            <a:pPr>
              <a:defRPr sz="1800"/>
            </a:pPr>
            <a:r>
              <a:t>Bevor eine Planung oder umfangreiche Anfrage beginnt, sollte geklärt werden, ob das Gebäude als Denkmal eingestuft ist oder im Bereich eines Denkmalumgebungsschutzes liegt. Eine Vermutung genügt dafür nicht. Zuständig für die Einordnung ist die zuständige Behörde; in Münster gehört diese Aufgabe zur Unteren Denkmalbehörde. Auch die Frage, ob für die geplante Veränderung eine Erlaubnis erforderlich ist, lässt sich dort verbindlich klären.</a:t>
            </a:r>
          </a:p>
          <a:p>
            <a:pPr>
              <a:defRPr sz="1800"/>
            </a:pPr>
          </a:p>
          <a:p>
            <a:pPr>
              <a:defRPr sz="1800"/>
            </a:pPr>
            <a:r>
              <a:t>Für die erste Kontaktaufnahme sollten deshalb drei Punkte notiert werden: der mögliche Status des Gebäudes, der zuständige Ansprechpartner und die dort genannten Anforderungen an Fassade oder Dach. Der Beitr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1: Denkmalstatus verbindlich klären</a:t>
            </a:r>
          </a:p>
        </p:txBody>
      </p:sp>
      <p:sp>
        <p:nvSpPr>
          <p:cNvPr id="3" name="Content Placeholder 2"/>
          <p:cNvSpPr>
            <a:spLocks noGrp="1"/>
          </p:cNvSpPr>
          <p:nvPr>
            <p:ph idx="1"/>
          </p:nvPr>
        </p:nvSpPr>
        <p:spPr/>
        <p:txBody>
          <a:bodyPr/>
          <a:lstStyle/>
          <a:p>
            <a:pPr>
              <a:defRPr sz="1800"/>
            </a:pPr>
            <a:r>
              <a:t>ag „Denkmalstatus prüfen“ fasst diese Vorbereitung kompakt zusammen. Wichtig ist, zwischen einem bestätigten Baudenkmal und einem Gebäude in dessen Umgebung zu unterscheiden und den jeweils geltenden Ablauf bei der zuständigen Stelle zu erfragen.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2: Unterlagen zum Bestand sammeln</a:t>
            </a:r>
          </a:p>
        </p:txBody>
      </p:sp>
      <p:sp>
        <p:nvSpPr>
          <p:cNvPr id="3" name="Content Placeholder 2"/>
          <p:cNvSpPr>
            <a:spLocks noGrp="1"/>
          </p:cNvSpPr>
          <p:nvPr>
            <p:ph idx="1"/>
          </p:nvPr>
        </p:nvSpPr>
        <p:spPr/>
        <p:txBody>
          <a:bodyPr/>
          <a:lstStyle/>
          <a:p>
            <a:pPr>
              <a:defRPr sz="1800"/>
            </a:pPr>
            <a:r>
              <a:t>Material und Konstruktion einer Holzfassade lassen sich nur sinnvoll beurteilen, wenn der vorhandene Aufbau nachvollziehbar dokumentiert ist. Dafür genügt zunächst eine eigene, möglichst genaue Skizze. Sie sollte die sichtbaren Bauteile, Anschlüsse und schadhaften Stellen erfassen und deutlich zeigen, welche Bereiche bereits untersucht wurden und welche noch unbekannt sind.</a:t>
            </a:r>
          </a:p>
          <a:p>
            <a:pPr>
              <a:defRPr sz="1800"/>
            </a:pPr>
          </a:p>
          <a:p>
            <a:pPr>
              <a:defRPr sz="1800"/>
            </a:pPr>
            <a:r>
              <a:t>Ergänzend helfen Fotos der gesamten Fassade sowie ausschnittsweise Aufnahmen betroffener Stellen. Soweit vorhanden, können Baupläne, Schnitte, Informationen zum Baujahr, frühere Renovierungen und bereits erteilte Auskünfte oder Genehmigungen eingebunden werden. Auch Angab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2: Unterlagen zum Bestand sammeln</a:t>
            </a:r>
          </a:p>
        </p:txBody>
      </p:sp>
      <p:sp>
        <p:nvSpPr>
          <p:cNvPr id="3" name="Content Placeholder 2"/>
          <p:cNvSpPr>
            <a:spLocks noGrp="1"/>
          </p:cNvSpPr>
          <p:nvPr>
            <p:ph idx="1"/>
          </p:nvPr>
        </p:nvSpPr>
        <p:spPr/>
        <p:txBody>
          <a:bodyPr/>
          <a:lstStyle/>
          <a:p>
            <a:pPr>
              <a:defRPr sz="1800"/>
            </a:pPr>
            <a:r>
              <a:t>en zu Beschichtungen, Anstrichen und Ausbesserungen sind relevant. Fehlende Unterlagen müssen nicht vorab ergänzt werden. Sie sollten stattdessen als offene Punkte gekennzeichnet werden, damit die Anfrage sichtbar macht, welche Fragen noch einer Klärung bedürfen.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3: Das Erhaltungsziel formulieren</a:t>
            </a:r>
          </a:p>
        </p:txBody>
      </p:sp>
      <p:sp>
        <p:nvSpPr>
          <p:cNvPr id="3" name="Content Placeholder 2"/>
          <p:cNvSpPr>
            <a:spLocks noGrp="1"/>
          </p:cNvSpPr>
          <p:nvPr>
            <p:ph idx="1"/>
          </p:nvPr>
        </p:nvSpPr>
        <p:spPr/>
        <p:txBody>
          <a:bodyPr/>
          <a:lstStyle/>
          <a:p>
            <a:pPr>
              <a:defRPr sz="1800"/>
            </a:pPr>
            <a:r>
              <a:t>Nach Status und Bestandsaufnahme sollte festgehalten werden, was erhalten bleiben soll und was verändert werden darf. Dafür bietet sich eine kurze, gliederbare Beschreibung an: erhaltene Bauteile, erkennbare Schäden, geplante Änderungen und bereits geklärte Schutzfragen. So wird der persönliche Wunsch von den tatsächlichen Vorgaben getrennt, ohne dass einer der beiden Aspekte aus dem Blick gerät.</a:t>
            </a:r>
          </a:p>
          <a:p>
            <a:pPr>
              <a:defRPr sz="1800"/>
            </a:pPr>
          </a:p>
          <a:p>
            <a:pPr>
              <a:defRPr sz="1800"/>
            </a:pPr>
            <a:r>
              <a:t>Auch offene Punkte gehören in diese Beschreibung. Beispielsweise kann zunächst unklar sein, wie eine Anschlusssituation aufgebaut ist oder welche Materialien im Bestand vorhanden sind. Solche Unsicherheiten sind kein Grund, Details zu vermuten. Der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3: Das Erhaltungsziel formulieren</a:t>
            </a:r>
          </a:p>
        </p:txBody>
      </p:sp>
      <p:sp>
        <p:nvSpPr>
          <p:cNvPr id="3" name="Content Placeholder 2"/>
          <p:cNvSpPr>
            <a:spLocks noGrp="1"/>
          </p:cNvSpPr>
          <p:nvPr>
            <p:ph idx="1"/>
          </p:nvPr>
        </p:nvSpPr>
        <p:spPr/>
        <p:txBody>
          <a:bodyPr/>
          <a:lstStyle/>
          <a:p>
            <a:pPr>
              <a:defRPr sz="1800"/>
            </a:pPr>
            <a:r>
              <a:t>zuständigen Stelle oder den beteiligten Fachplanenden kann stattdessen transparent mitgeteilt werden, welche Erkenntnisse bereits vorliegen und wo eine weitere Prüfung erforderlich ist.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4: Material und Maßnahme anschließend bestimmen</a:t>
            </a:r>
          </a:p>
        </p:txBody>
      </p:sp>
      <p:sp>
        <p:nvSpPr>
          <p:cNvPr id="3" name="Content Placeholder 2"/>
          <p:cNvSpPr>
            <a:spLocks noGrp="1"/>
          </p:cNvSpPr>
          <p:nvPr>
            <p:ph idx="1"/>
          </p:nvPr>
        </p:nvSpPr>
        <p:spPr/>
        <p:txBody>
          <a:bodyPr/>
          <a:lstStyle/>
          <a:p>
            <a:pPr>
              <a:defRPr sz="1800"/>
            </a:pPr>
            <a:r>
              <a:t>Erst mit geklärtem Status, dokumentiertem Bestand und formuliertem Erhaltungsziel lässt sich der sinnvolle Umfang der Maßnahme unterscheiden. Möglich sind eine Reparatur im Bestand, eine teilweise Erneuerung oder ein vollständiger Austausch. Die geplante Arbeit sollte dabei nach betroffenen Bauteilen und Schichten beschrieben werden – von der sichtbaren Oberfläche bis zu Unterkonstruktion und Anschlüssen.</a:t>
            </a:r>
          </a:p>
          <a:p>
            <a:pPr>
              <a:defRPr sz="1800"/>
            </a:pPr>
          </a:p>
          <a:p>
            <a:pPr>
              <a:defRPr sz="1800"/>
            </a:pPr>
            <a:r>
              <a:t>Für Dacharbeiten gilt dieselbe Systematik: Tragwerk und Dachflächen werden getrennt betrachtet. Sichtbare Schäden sollten nicht lediglich durch einen neuen Aufbau verdeckt werden. Ebenso ist bereits in der Anfrage erkennbar zu machen, welch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4: Material und Maßnahme anschließend bestimmen</a:t>
            </a:r>
          </a:p>
        </p:txBody>
      </p:sp>
      <p:sp>
        <p:nvSpPr>
          <p:cNvPr id="3" name="Content Placeholder 2"/>
          <p:cNvSpPr>
            <a:spLocks noGrp="1"/>
          </p:cNvSpPr>
          <p:nvPr>
            <p:ph idx="1"/>
          </p:nvPr>
        </p:nvSpPr>
        <p:spPr/>
        <p:txBody>
          <a:bodyPr/>
          <a:lstStyle/>
          <a:p>
            <a:pPr>
              <a:defRPr sz="1800"/>
            </a:pPr>
            <a:r>
              <a:t>e Teile unverändert bleiben, welche erneuert werden sollen und welche technischen Fragen noch offen sind. Das „Planungsheft zur Holzfassade und zum Dach am Denkmal“ kann diese Angaben als Grundlage für die weitere Abstimmung dienen.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Den Holzfassade-Wunsch am Denkmal in vier Schritten vorbereiten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